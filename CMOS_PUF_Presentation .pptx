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69" r:id="rId5"/>
    <p:sldId id="270" r:id="rId6"/>
    <p:sldId id="271" r:id="rId7"/>
    <p:sldId id="262" r:id="rId8"/>
    <p:sldId id="263" r:id="rId9"/>
    <p:sldId id="264" r:id="rId10"/>
    <p:sldId id="265" r:id="rId11"/>
    <p:sldId id="272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Bit-error rate</c:v>
                </c:pt>
              </c:strCache>
            </c:strRef>
          </c:tx>
          <c:spPr>
            <a:solidFill>
              <a:srgbClr val="5A6B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F51-409E-990D-DBE17179F4CC}"/>
              </c:ext>
            </c:extLst>
          </c:dPt>
          <c:dPt>
            <c:idx val="1"/>
            <c:invertIfNegative val="0"/>
            <c:bubble3D val="0"/>
            <c:spPr>
              <a:solidFill>
                <a:srgbClr val="18A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51-409E-990D-DBE17179F4CC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023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 6T PUF</c:v>
                </c:pt>
                <c:pt idx="1">
                  <c:v>Proposed (after masking)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F51-409E-990D-DBE17179F4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B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A6B7B"/>
                    </a:solidFill>
                    <a:latin typeface="Arial"/>
                  </a:rPr>
                  <a:t>Bit-error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643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0B4F6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INTEGRATED CIRCUITS  •  HARDWARE SECURITY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Reliable Schmitt-Trigger-Assisted CMOS SRAM PUF Cell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Lightweight Unstable-Bit Detection for IoT Hardware Security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Doaa Odeh (1221370)   ·   Aseel Hamed (1231891)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Salameh (1230737)   ·   Anis DarHammouda (1230834)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Electrical &amp; Computer Engineering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5806440"/>
            <a:ext cx="217627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806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AMIS C5  0.5 µm CMOS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36392" y="5806440"/>
            <a:ext cx="11201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5806440"/>
            <a:ext cx="112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 = 5 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5132" y="5806440"/>
            <a:ext cx="11201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5132" y="5806440"/>
            <a:ext cx="112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Array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33872" y="5806440"/>
            <a:ext cx="246430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5806440"/>
            <a:ext cx="2464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 + Electric VLSI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IoT Chips Need Keys They Can Trust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</a:rPr>
              <a:t>Stored keys are risky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A3A"/>
                </a:solidFill>
              </a:rPr>
              <a:t>IoT nodes need a unique identity, but a secret in on-chip memory adds cost and can be read by an attacker.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</a:rPr>
              <a:t>A PUF generates the key instead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A3A"/>
                </a:solidFill>
              </a:rPr>
              <a:t>It derives a chip-unique key from the random transistor mismatch of fabrication — hard to clone, nothing stored.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</a:rPr>
              <a:t>The catch: reliability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</a:rPr>
              <a:t>In an SRAM PUF, near-balanced cells flip between reads, so a fraction of the key bits are unstable.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20840" y="1737360"/>
            <a:ext cx="48920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8660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86600" y="2331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very small SRAM PUF become reliable without heavy error-correction hardware?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086600" y="36576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</a:rPr>
              <a:t>Our approach — two lightweight add-ons: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7293"/>
                </a:solidFill>
              </a:rPr>
              <a:t>Schmitt-trigger readout → rejects read noise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7293"/>
                </a:solidFill>
              </a:rPr>
              <a:t>Unstable-bit detector → masks the flaky bits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18A999"/>
                </a:solidFill>
                <a:latin typeface="Calibri"/>
              </a:rPr>
              <a:t>BASELINE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0233F"/>
                </a:solidFill>
                <a:latin typeface="Cambria"/>
              </a:rPr>
              <a:t>Foundations: Inverter, 6T SRAM &amp; Schmitt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0000"/>
            <a:ext cx="3564906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4F6C"/>
                </a:solidFill>
                <a:latin typeface="Calibri"/>
              </a:rPr>
              <a:t>CMOS Inverter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20000"/>
            <a:ext cx="3564906" cy="19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mos_inv_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291" y="1720000"/>
            <a:ext cx="2083399" cy="19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3546" y="1420000"/>
            <a:ext cx="3564906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4F6C"/>
                </a:solidFill>
                <a:latin typeface="Calibri"/>
              </a:rPr>
              <a:t>6T SRAM Cell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3546" y="1720000"/>
            <a:ext cx="3564906" cy="19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944" y="1702310"/>
            <a:ext cx="3389414" cy="19976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78452" y="1420000"/>
            <a:ext cx="3564906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4F6C"/>
                </a:solidFill>
                <a:latin typeface="Calibri"/>
              </a:rPr>
              <a:t>Schmitt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8452" y="1720000"/>
            <a:ext cx="3564906" cy="19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881" y="1737691"/>
            <a:ext cx="3464047" cy="1962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3870000"/>
            <a:ext cx="1109472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B4F6C"/>
                </a:solidFill>
                <a:latin typeface="Calibri"/>
              </a:rPr>
              <a:t>Simulated Schmitt-Trigger Hysteresis — transitions at ≈ 1.75 V / 3.1 V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612" y="4262540"/>
            <a:ext cx="9423424" cy="1980000"/>
          </a:xfrm>
          <a:prstGeom prst="rect">
            <a:avLst/>
          </a:prstGeom>
        </p:spPr>
      </p:pic>
      <p:sp>
        <p:nvSpPr>
          <p:cNvPr id="999" name="PageNum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18A999"/>
                </a:solidFill>
                <a:latin typeface="Calibri"/>
              </a:rPr>
              <a:t>SUPPORTING BLOCKS &amp; RELIABILITY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0233F"/>
                </a:solidFill>
                <a:latin typeface="Cambria"/>
              </a:rPr>
              <a:t>Precharge, Latch &amp; the Unstable-Bit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0000"/>
            <a:ext cx="3564906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4F6C"/>
                </a:solidFill>
                <a:latin typeface="Calibri"/>
              </a:rPr>
              <a:t>Precharge Circuit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20000"/>
            <a:ext cx="3564906" cy="19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reCharge_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908" y="1729500"/>
            <a:ext cx="2766091" cy="19888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3546" y="1420000"/>
            <a:ext cx="3564906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4F6C"/>
                </a:solidFill>
                <a:latin typeface="Calibri"/>
              </a:rPr>
              <a:t>Output Latch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3546" y="1720000"/>
            <a:ext cx="3564906" cy="19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Latch_s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748" y="1711174"/>
            <a:ext cx="3244504" cy="1988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78452" y="1420000"/>
            <a:ext cx="3564906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4F6C"/>
                </a:solidFill>
                <a:latin typeface="Calibri"/>
              </a:rPr>
              <a:t>Dual-Latch + XOR Detector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8452" y="1720000"/>
            <a:ext cx="3564906" cy="19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452" y="2012942"/>
            <a:ext cx="3552743" cy="14160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3870000"/>
            <a:ext cx="1109472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B4F6C"/>
                </a:solidFill>
                <a:latin typeface="Calibri"/>
              </a:rPr>
              <a:t>Detector Waveform — check pulses high when the two samples disagree</a:t>
            </a:r>
          </a:p>
        </p:txBody>
      </p:sp>
      <p:pic>
        <p:nvPicPr>
          <p:cNvPr id="15" name="Picture 14" descr="Unstable_bit_detector_baseline_sch_s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5433" y="4150000"/>
            <a:ext cx="8460552" cy="2578574"/>
          </a:xfrm>
          <a:prstGeom prst="rect">
            <a:avLst/>
          </a:prstGeom>
        </p:spPr>
      </p:pic>
      <p:sp>
        <p:nvSpPr>
          <p:cNvPr id="999" name="PageNum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18A999"/>
                </a:solidFill>
                <a:latin typeface="Calibri"/>
              </a:rPr>
              <a:t>1-BIT PUF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0233F"/>
                </a:solidFill>
                <a:latin typeface="Cambria"/>
              </a:rPr>
              <a:t>Baseline vs Proposed: Assembly &amp; Direct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0000"/>
            <a:ext cx="3564906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4F6C"/>
                </a:solidFill>
                <a:latin typeface="Calibri"/>
              </a:rPr>
              <a:t>Baseline (6T + Inverter + Latch)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20000"/>
            <a:ext cx="3564906" cy="21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UF_1BIT_BASELINE_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28" y="2020000"/>
            <a:ext cx="3607075" cy="151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3546" y="1420000"/>
            <a:ext cx="3564906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4F6C"/>
                </a:solidFill>
                <a:latin typeface="Calibri"/>
              </a:rPr>
              <a:t>Proposed (6T + Schmitt + Latch)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3546" y="1720000"/>
            <a:ext cx="3564906" cy="21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UF_1BIT_PROPOSED_s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547" y="1914639"/>
            <a:ext cx="3564906" cy="18013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78452" y="1420000"/>
            <a:ext cx="3564906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4F6C"/>
                </a:solidFill>
                <a:latin typeface="Calibri"/>
              </a:rPr>
              <a:t>Both + XOR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8452" y="1720000"/>
            <a:ext cx="3564906" cy="21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452" y="1946600"/>
            <a:ext cx="3635144" cy="17693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020000"/>
            <a:ext cx="1109472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B4F6C"/>
                </a:solidFill>
                <a:latin typeface="Calibri"/>
              </a:rPr>
              <a:t>Comparison Waveform — baseline output, proposed output, and their XOR</a:t>
            </a:r>
          </a:p>
        </p:txBody>
      </p:sp>
      <p:pic>
        <p:nvPicPr>
          <p:cNvPr id="15" name="Picture 14" descr="PUF_1BIT_COMPARASION_sch_s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1073" y="4273846"/>
            <a:ext cx="5489854" cy="2534000"/>
          </a:xfrm>
          <a:prstGeom prst="rect">
            <a:avLst/>
          </a:prstGeom>
        </p:spPr>
      </p:pic>
      <p:sp>
        <p:nvSpPr>
          <p:cNvPr id="999" name="PageNum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18A999"/>
                </a:solidFill>
                <a:latin typeface="Calibri"/>
              </a:rPr>
              <a:t>SCALING UP &amp; DESIGN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0233F"/>
                </a:solidFill>
                <a:latin typeface="Cambria"/>
              </a:rPr>
              <a:t>From 1 Bit to 16: the 4×4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117" y="1036960"/>
            <a:ext cx="544736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4F6C"/>
                </a:solidFill>
                <a:latin typeface="Calibri"/>
              </a:rPr>
              <a:t>Baseline 4×4 Array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2420" y="1336960"/>
            <a:ext cx="5683580" cy="207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4x4_Array_Baseline_withoutPreCharge_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17" y="1329946"/>
            <a:ext cx="5574103" cy="2066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3500" y="990752"/>
            <a:ext cx="544736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>
                <a:solidFill>
                  <a:srgbClr val="0B4F6C"/>
                </a:solidFill>
                <a:latin typeface="Calibri"/>
              </a:rPr>
              <a:t>Proposed 4×4 Array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1000" y="1347064"/>
            <a:ext cx="5817640" cy="20629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4x4_Array_Proposed_WithoutPreCharge_s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00" y="1329946"/>
            <a:ext cx="5661884" cy="20699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580000"/>
            <a:ext cx="267618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4F6C"/>
                </a:solidFill>
                <a:latin typeface="Calibri"/>
              </a:rPr>
              <a:t>Baseline, no PC</a:t>
            </a:r>
          </a:p>
        </p:txBody>
      </p:sp>
      <p:pic>
        <p:nvPicPr>
          <p:cNvPr id="12" name="Picture 11" descr="4x4_Array_Baseline_withoutPreCharge_sch_s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25" y="3841745"/>
            <a:ext cx="2788067" cy="12830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54820" y="3580000"/>
            <a:ext cx="267618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4F6C"/>
                </a:solidFill>
                <a:latin typeface="Calibri"/>
              </a:rPr>
              <a:t>Baseline, w/ PC</a:t>
            </a:r>
          </a:p>
        </p:txBody>
      </p:sp>
      <p:pic>
        <p:nvPicPr>
          <p:cNvPr id="15" name="Picture 14" descr="4x4_Array_Baseline_withPreCharge_sch_s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3982" y="3825871"/>
            <a:ext cx="2828363" cy="129541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61000" y="3580000"/>
            <a:ext cx="267618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4F6C"/>
                </a:solidFill>
                <a:latin typeface="Calibri"/>
              </a:rPr>
              <a:t>Proposed, no PC</a:t>
            </a:r>
          </a:p>
        </p:txBody>
      </p:sp>
      <p:pic>
        <p:nvPicPr>
          <p:cNvPr id="18" name="Picture 17" descr="4x4_Array_Proposed_WithoutPreCharge_sch_s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477" y="3830104"/>
            <a:ext cx="2828363" cy="12947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67180" y="3580000"/>
            <a:ext cx="267618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4F6C"/>
                </a:solidFill>
                <a:latin typeface="Calibri"/>
              </a:rPr>
              <a:t>Proposed, w/ PC</a:t>
            </a:r>
          </a:p>
        </p:txBody>
      </p:sp>
      <p:pic>
        <p:nvPicPr>
          <p:cNvPr id="21" name="Picture 20" descr="4x4_Array_Proposed_WithPreCharge_sch_s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0669" y="3820000"/>
            <a:ext cx="2899387" cy="13287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48640" y="5568864"/>
            <a:ext cx="11094720" cy="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8640" y="5534840"/>
            <a:ext cx="1049472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 dirty="0" err="1">
                <a:solidFill>
                  <a:srgbClr val="1B2A3A"/>
                </a:solidFill>
                <a:latin typeface="Calibri"/>
              </a:rPr>
              <a:t>Precharge</a:t>
            </a:r>
            <a:r>
              <a:rPr sz="1250" b="0" i="0" dirty="0">
                <a:solidFill>
                  <a:srgbClr val="1B2A3A"/>
                </a:solidFill>
                <a:latin typeface="Calibri"/>
              </a:rPr>
              <a:t> makes each read clean but does not create the bit — the fingerprint comes from power-up mismatch, so all metrics use no-</a:t>
            </a:r>
            <a:r>
              <a:rPr sz="1250" b="0" i="0" dirty="0" err="1">
                <a:solidFill>
                  <a:srgbClr val="1B2A3A"/>
                </a:solidFill>
                <a:latin typeface="Calibri"/>
              </a:rPr>
              <a:t>precharge</a:t>
            </a:r>
            <a:r>
              <a:rPr sz="1250" b="0" i="0" dirty="0">
                <a:solidFill>
                  <a:srgbClr val="1B2A3A"/>
                </a:solidFill>
                <a:latin typeface="Calibri"/>
              </a:rPr>
              <a:t> mode. At the array level, 16 parallel XOR comparators (one per bit) flag exactly where the two 16-bit responses disagree.</a:t>
            </a:r>
          </a:p>
        </p:txBody>
      </p:sp>
      <p:sp>
        <p:nvSpPr>
          <p:cNvPr id="999" name="PageNum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Measured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93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process   </a:t>
            </a: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Electric VLSI, simulated in LTspice XVII — AMIS C5 0.5µm BSIM3 models, VDD = 5 V.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8620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624328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generation   </a:t>
            </a: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ramped 0→5 V with access transistors off; each cell resolves by its own mismatch (power-up, no precharge).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7947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557016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injection   </a:t>
            </a: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BSIM3 has no delvto in LTspice → a small series gate-offset source per transistor, Gaussian σ = 9 mV (Pelgrom).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7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7274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489704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 across chips   </a:t>
            </a: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 re-drawn every run to emulate independent chips (60 instances for the 4×4 array).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42239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6601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60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422392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test   </a:t>
            </a: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cells read 30× with independent 5 mV read noise; reads split into enroll (mask) + independent eval.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1 — The Key Is Random &amp; Unique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inter-chip Hamming dist. (ideal 50%)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45.9%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3756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ones (ideal 50%)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metrics are close to the ideal 50% — the fingerprint is well-balanced (uniformity) and distinct from chip to chip (uniqueness). This is exactly what a good PUF needs: an unpredictable, chip-specific key.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02725" y="1200797"/>
            <a:ext cx="4818715" cy="482216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0" descr="img/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907" y="1200797"/>
            <a:ext cx="3252349" cy="45051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385560" y="557163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Uniqueness distribution (60 chips) and per-position bit-aliasing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89320" y="607662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metrics come from the shared 6T core, so baseline and proposed are identical.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2 — Reliability: the Headline Result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7607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629400" y="1783080"/>
            <a:ext cx="4983480" cy="4206240"/>
          </a:xfrm>
          <a:prstGeom prst="roundRect">
            <a:avLst>
              <a:gd name="adj" fmla="val 1304"/>
            </a:avLst>
          </a:prstGeom>
          <a:solidFill>
            <a:srgbClr val="F4F7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03720" y="2011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~10× fewer errors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903720" y="265176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Baseline: 15.0% BER (85.0% reliable) on independent noisy reads.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The detector masks the 59% of cells unstable at enrollment.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Retained key: 1.5% BER (98.5% reliable) on an independent evaluation set.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Trade-off: a shorter key — same reliability-for-length deal as the ASCH-PUF reference.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 Proposed — What It Costs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 (inter-chip HD)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Uniformity (% ones)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Bit-error rate (with read noise)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8A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 masking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8A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retained bits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power (1-bit)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 pW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 pW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gated readout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energy (1-bit)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6.56 pJ / 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gated Schmitt+latch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Readout delay (10 fF)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 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~101 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~1.9×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area (1-bit)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5,595 µm²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7,339 µm²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4×4 array area (layout)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160,921 µm²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244,455 µm²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&amp; uniformity come from the shared 6T core; the proposed cell pays area, power, energy and delay to buy the reliability gain.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18A999"/>
                </a:solidFill>
                <a:latin typeface="Calibri"/>
              </a:rPr>
              <a:t>PHYSICAL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0233F"/>
                </a:solidFill>
                <a:latin typeface="Cambria"/>
              </a:rPr>
              <a:t>Layout &amp; Verification — Every Block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80000"/>
            <a:ext cx="2638680" cy="11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mos_inv_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055" y="1450000"/>
            <a:ext cx="771850" cy="10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550000"/>
            <a:ext cx="263868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4F6C"/>
                </a:solidFill>
                <a:latin typeface="Calibri"/>
              </a:rPr>
              <a:t>Inverter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320" y="1380000"/>
            <a:ext cx="2638680" cy="11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6T_SRAM_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644" y="1450000"/>
            <a:ext cx="1364031" cy="101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67320" y="2550000"/>
            <a:ext cx="263868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4F6C"/>
                </a:solidFill>
                <a:latin typeface="Calibri"/>
              </a:rPr>
              <a:t>6T SRAM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6000" y="1380000"/>
            <a:ext cx="2638680" cy="11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hmitt_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925" y="1450000"/>
            <a:ext cx="990830" cy="10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86000" y="2550000"/>
            <a:ext cx="263868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4F6C"/>
                </a:solidFill>
                <a:latin typeface="Calibri"/>
              </a:rPr>
              <a:t>Schmitt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4680" y="1380000"/>
            <a:ext cx="2638680" cy="11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atch_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4680" y="1559604"/>
            <a:ext cx="2498680" cy="7907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04680" y="2550000"/>
            <a:ext cx="263868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4F6C"/>
                </a:solidFill>
                <a:latin typeface="Calibri"/>
              </a:rPr>
              <a:t>Latch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90000"/>
            <a:ext cx="2638680" cy="11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XOR_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170" y="2960000"/>
            <a:ext cx="1539619" cy="101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4060000"/>
            <a:ext cx="263868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4F6C"/>
                </a:solidFill>
                <a:latin typeface="Calibri"/>
              </a:rPr>
              <a:t>XOR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7320" y="2890000"/>
            <a:ext cx="2638680" cy="11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Unstable_bit_detector_baseline_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7320" y="3102493"/>
            <a:ext cx="2498680" cy="7250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367320" y="4060000"/>
            <a:ext cx="263868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4F6C"/>
                </a:solidFill>
                <a:latin typeface="Calibri"/>
              </a:rPr>
              <a:t>Detector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6000" y="2890000"/>
            <a:ext cx="2638680" cy="11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PUF_1BIT_BASELINE_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6000" y="3007990"/>
            <a:ext cx="2498680" cy="91401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86000" y="4060000"/>
            <a:ext cx="263868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4F6C"/>
                </a:solidFill>
                <a:latin typeface="Calibri"/>
              </a:rPr>
              <a:t>PUF Baseline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4680" y="2890000"/>
            <a:ext cx="2638680" cy="11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PUF_1BIT_PROPOSED_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4680" y="3140153"/>
            <a:ext cx="2498680" cy="64969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04680" y="4060000"/>
            <a:ext cx="263868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4F6C"/>
                </a:solidFill>
                <a:latin typeface="Calibri"/>
              </a:rPr>
              <a:t>PUF Proposed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00000"/>
            <a:ext cx="2638680" cy="11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9870" y="4470000"/>
            <a:ext cx="2216219" cy="101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5570000"/>
            <a:ext cx="263868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4F6C"/>
                </a:solidFill>
                <a:latin typeface="Calibri"/>
              </a:rPr>
              <a:t>Array Baseline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7320" y="4400000"/>
            <a:ext cx="2638680" cy="11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37320" y="4513705"/>
            <a:ext cx="2498680" cy="92258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367320" y="5570000"/>
            <a:ext cx="2638680" cy="2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4F6C"/>
                </a:solidFill>
                <a:latin typeface="Calibri"/>
              </a:rPr>
              <a:t>Array Proposed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40000"/>
            <a:ext cx="1109472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1">
                <a:solidFill>
                  <a:srgbClr val="5A6B7B"/>
                </a:solidFill>
                <a:latin typeface="Calibri"/>
              </a:rPr>
              <a:t>All 10 implemented cells and arrays are DRC-clean and NCC-matched to schematic.</a:t>
            </a:r>
          </a:p>
        </p:txBody>
      </p:sp>
      <p:sp>
        <p:nvSpPr>
          <p:cNvPr id="999" name="PageNum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0B4F6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73736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SRAM PUF made reliable — without heavy error correction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146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8A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→ 1.5%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 lower bit-error rate from lightweight unstable-bit masking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25146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8A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99432" y="3246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Near-ideal uniqueness (49.8%) and uniformity (45.9%)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0100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5146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8A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DRC / NCC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0" y="3246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laid out clean and matched to schematic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</a:t>
            </a:r>
            <a:r>
              <a:rPr lang="en-US" sz="1350" dirty="0">
                <a:solidFill>
                  <a:srgbClr val="D7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electrical results are schematic-level (no parasitic extraction); reliability via repeated-read noise; array driven by stimulus, not a decoder.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r>
              <a:rPr lang="en-US" sz="1350" dirty="0">
                <a:solidFill>
                  <a:srgbClr val="D7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post-layout extraction, temperature &amp; voltage sweeps, decoder-addressed compact array, a crowbar-free low-power readout, and formal randomness testing.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988</Words>
  <Application>Microsoft Office PowerPoint</Application>
  <PresentationFormat>Widescreen</PresentationFormat>
  <Paragraphs>164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Reliable CMOS SRAM PUF</dc:title>
  <dc:subject>PptxGenJS Presentation</dc:subject>
  <dc:creator>PUF Project Team</dc:creator>
  <cp:lastModifiedBy>Anees Hammoudeh</cp:lastModifiedBy>
  <cp:revision>2</cp:revision>
  <dcterms:created xsi:type="dcterms:W3CDTF">2026-07-02T17:33:28Z</dcterms:created>
  <dcterms:modified xsi:type="dcterms:W3CDTF">2026-07-02T19:10:09Z</dcterms:modified>
</cp:coreProperties>
</file>